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Explored (%)</c:v>
                </c:pt>
              </c:strCache>
            </c:strRef>
          </c:tx>
          <c:spPr>
            <a:solidFill>
              <a:srgbClr val="8B9B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B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Zero Heuristic
(Dijkstra)</c:v>
                  </c:pt>
                  <c:pt idx="1">
                    <c:v>Weak
Heuristic</c:v>
                  </c:pt>
                  <c:pt idx="2">
                    <c:v>Good
Heuristic</c:v>
                  </c:pt>
                  <c:pt idx="3">
                    <c:v>Perfect
Heuristic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75</c:v>
                </c:pt>
                <c:pt idx="2">
                  <c:v>45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Dijkstra's</c:v>
                </c:pt>
              </c:strCache>
            </c:strRef>
          </c:tx>
          <c:spPr>
            <a:solidFill>
              <a:srgbClr val="8B9B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Route 1</c:v>
                  </c:pt>
                  <c:pt idx="1">
                    <c:v>Route 2</c:v>
                  </c:pt>
                  <c:pt idx="2">
                    <c:v>Route 3</c:v>
                  </c:pt>
                  <c:pt idx="3">
                    <c:v>Route 4</c:v>
                  </c:pt>
                  <c:pt idx="4">
                    <c:v>Route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98</c:v>
                </c:pt>
                <c:pt idx="3">
                  <c:v>167</c:v>
                </c:pt>
                <c:pt idx="4">
                  <c:v>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Route 1</c:v>
                  </c:pt>
                  <c:pt idx="1">
                    <c:v>Route 2</c:v>
                  </c:pt>
                  <c:pt idx="2">
                    <c:v>Route 3</c:v>
                  </c:pt>
                  <c:pt idx="3">
                    <c:v>Route 4</c:v>
                  </c:pt>
                  <c:pt idx="4">
                    <c:v>Route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64</c:v>
                </c:pt>
                <c:pt idx="2">
                  <c:v>42</c:v>
                </c:pt>
                <c:pt idx="3">
                  <c:v>72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0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90E0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B4D8">
              <a:alpha val="40000"/>
            </a:srgbClr>
          </a:solidFill>
          <a:ln w="254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097280"/>
            <a:ext cx="1097280" cy="1097280"/>
          </a:xfrm>
          <a:prstGeom prst="ellipse">
            <a:avLst/>
          </a:prstGeom>
          <a:solidFill>
            <a:srgbClr val="00D4AA">
              <a:alpha val="30000"/>
            </a:srgbClr>
          </a:solidFill>
          <a:ln w="254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457200" cy="457200"/>
          </a:xfrm>
          <a:prstGeom prst="ellipse">
            <a:avLst/>
          </a:prstGeom>
          <a:solidFill>
            <a:srgbClr val="90E0EF">
              <a:alpha val="40000"/>
            </a:srgbClr>
          </a:solidFill>
          <a:ln w="12700">
            <a:solidFill>
              <a:srgbClr val="90E0E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377440"/>
            <a:ext cx="822960" cy="82296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657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9144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Algorithm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1783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Transportation Network Optimization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4389120"/>
            <a:ext cx="21945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389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DEEP DIVE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52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background &amp; applications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86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 Foundations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g(n) + h(n) explained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21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3913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152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Transportation Modifications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emergency, multi-modal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3172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86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vs Dijkstra's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21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83480" y="3913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&amp; Conclusions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Introduction to A*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A*?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(A-Star)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graph traversal and path search algorithm renowned for its completeness, optimality, and efficiency.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extends Dijkstra's algorithm by incorporating a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function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guides the search toward the goal, dramatically reducing nodes explored.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Applications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19456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GPS Navigation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route between locations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3657600"/>
            <a:ext cx="219456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 for autonomous robots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219456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Video Games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character movement &amp; pathfinding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4343400"/>
            <a:ext cx="219456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Network Routing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617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data packet paths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188720"/>
            <a:ext cx="338328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23560" y="1920240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finds a solution if one exists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2633472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596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shortest path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346704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fewer nodes than Dijkstra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4059936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search toward the goal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Mathematical Foundations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188720"/>
            <a:ext cx="5852160" cy="1188720"/>
          </a:xfrm>
          <a:prstGeom prst="rect">
            <a:avLst/>
          </a:prstGeom>
          <a:solidFill>
            <a:srgbClr val="1B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1887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 =  g(n)  +  h(n)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51760" cy="1463040"/>
          </a:xfrm>
          <a:prstGeom prst="rect">
            <a:avLst/>
          </a:prstGeom>
          <a:solidFill>
            <a:srgbClr val="1B2E4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currently being evaluated in the 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651760" cy="1463040"/>
          </a:xfrm>
          <a:prstGeom prst="rect">
            <a:avLst/>
          </a:prstGeom>
          <a:solidFill>
            <a:srgbClr val="1B2E45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g(n)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of the path from the start node to node 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2651760" cy="1463040"/>
          </a:xfrm>
          <a:prstGeom prst="rect">
            <a:avLst/>
          </a:prstGeom>
          <a:solidFill>
            <a:srgbClr val="1B2E45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from node n to the goal (must be admissible)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0A25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Selection: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A* to be optimal, h(n) must be admissible — never overestimating the actual cost. This implementation uses Euclidean Distance (straight-line), which is always ≤ the true road distance.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Algorithm 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120640" cy="3749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1206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A_Star.py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A_Star(start, goal, h):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openSet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{start}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gScore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{start: 0}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fScore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{start: h(start, goal)}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openSet is not empty: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</a:t>
            </a:r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node with lowest fScore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== goal: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</a:t>
            </a:r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reconstruct_path(current)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openSet.remove(current)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 in neighbors(current):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tentative_g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gScore[current] + dist(...)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tentative_g &lt; gScore[neighbor]: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gScore[neighbor]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tentative_g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fScore[neighbor]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gScore[n] + h(n, goal)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openSet.add(neighbor)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0" y="173736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7190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9385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start node to openSet with its f-score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2258568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Best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459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node with the lowest f(n) from openSet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2779776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7614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Check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29809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 node is the goal, reconstruct and return path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300984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32826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5021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neighbors, computing tentative g-scores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3822192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803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4023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better path found, update scores and add to openSet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60720" y="43434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43251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45445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goal is reached or openSet is empty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Complexity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Time Complexity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edges
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vertices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strong heuristic, A* visits far fewer nodes than this worst-case bound.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Space Complexity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0" y="192024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stores all generated nodes in memory using openSet and gScore dictionaries.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linear space requirement can become a bottleneck for very large graphs.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Quality vs. Nodes Explored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069080"/>
          <a:ext cx="82296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Transportation Modifications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Traffic-Aware Weighting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 = travel time, not just distance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adjusted for time of 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55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periods: Morning, Afternoon, Evening, Night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flow data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14300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143000"/>
            <a:ext cx="2743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298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0128" y="1298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Vehicle Prioritization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'Emergency Mode' flag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base speeds assumed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255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high-capacity roads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emergency response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14300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14300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298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🚇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54496" y="1298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Multi-Modal Transport Support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filtered per transport mode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Metro-only edges for Metro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3255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car, walk modes supported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mode-specific pathfinding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D0E4ED"/>
          </a:solidFill>
          <a:ln w="12700">
            <a:solidFill>
              <a:srgbClr val="D0E4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modifications transform the classical A* algorithm into a production-ready urban routing engine for the Cairo Smart City network.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Performance Analysis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560320" cy="1371600"/>
          </a:xfrm>
          <a:prstGeom prst="rect">
            <a:avLst/>
          </a:prstGeom>
          <a:solidFill>
            <a:srgbClr val="1B2E45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40–60%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Nodes Explored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Dijkstra's algorithm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60320" cy="1371600"/>
          </a:xfrm>
          <a:prstGeom prst="rect">
            <a:avLst/>
          </a:prstGeom>
          <a:solidFill>
            <a:srgbClr val="1B2E45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Optimality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optimal path as Dijkstra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60320" cy="1371600"/>
          </a:xfrm>
          <a:prstGeom prst="rect">
            <a:avLst/>
          </a:prstGeom>
          <a:solidFill>
            <a:srgbClr val="1B2E45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large-scale networks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Race — Nodes Explored Comparison (Cairo Network)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063240"/>
          <a:ext cx="8229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A* vs. Dijkstra's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Dijkstra's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Search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— explores all directions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— explores toward the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 h(n)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 h(n) &gt;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explores more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explores fewer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if h(n) is admissible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 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17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Verdict: A* is the superior choice for geographic routing when an admissible heuristic (e.g. Euclidean distance) is available.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7432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280160"/>
            <a:ext cx="822960" cy="82296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286000"/>
            <a:ext cx="1645920" cy="1645920"/>
          </a:xfrm>
          <a:prstGeom prst="ellipse">
            <a:avLst/>
          </a:prstGeom>
          <a:solidFill>
            <a:srgbClr val="00B4D8">
              <a:alpha val="20000"/>
            </a:srgbClr>
          </a:solidFill>
          <a:ln w="254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474720"/>
            <a:ext cx="640080" cy="6400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Quality is 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481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Euclidean heuristic is both admissible and highly effective for geographic networks.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40–60% Efficiency Gain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consistently explores fewer nodes than Dijkstra, translating to faster routing.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Optimality Preserved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find the same optimal path — A* just does it more efficiently.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Ready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weighting, emergency mode, and multi-modal support make A* production-grade.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A* Algorithm Analysis</dc:title>
  <dc:subject>PptxGenJS Presentation</dc:subject>
  <dc:creator>PptxGenJS</dc:creator>
  <cp:lastModifiedBy>PptxGenJS</cp:lastModifiedBy>
  <cp:revision>1</cp:revision>
  <dcterms:created xsi:type="dcterms:W3CDTF">2026-05-11T20:36:32Z</dcterms:created>
  <dcterms:modified xsi:type="dcterms:W3CDTF">2026-05-11T20:36:32Z</dcterms:modified>
</cp:coreProperties>
</file>